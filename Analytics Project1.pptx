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8609"/>
    <a:srgbClr val="04A4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482" y="-84"/>
      </p:cViewPr>
      <p:guideLst>
        <p:guide orient="horz" pos="219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DE811844-62F8-4965-8DC9-12A3344D4E54}" type="datetimeFigureOut">
              <a:rPr lang="en-IN" smtClean="0"/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752CEE5B-852F-49B7-8BFA-89FE52729912}" type="slidenum">
              <a:rPr lang="en-IN" smtClean="0"/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DE811844-62F8-4965-8DC9-12A3344D4E54}" type="datetimeFigureOut">
              <a:rPr lang="en-IN" smtClean="0"/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52CEE5B-852F-49B7-8BFA-89FE52729912}" type="slidenum">
              <a:rPr lang="en-IN" smtClean="0"/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DE811844-62F8-4965-8DC9-12A3344D4E5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752CEE5B-852F-49B7-8BFA-89FE52729912}" type="slidenum">
              <a:rPr lang="en-IN" smtClean="0"/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1844-62F8-4965-8DC9-12A3344D4E54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CEE5B-852F-49B7-8BFA-89FE52729912}" type="slidenum">
              <a:rPr lang="en-IN" smtClean="0"/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1844-62F8-4965-8DC9-12A3344D4E54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CEE5B-852F-49B7-8BFA-89FE52729912}" type="slidenum">
              <a:rPr lang="en-IN" smtClean="0"/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DE811844-62F8-4965-8DC9-12A3344D4E54}" type="datetimeFigureOut">
              <a:rPr lang="en-IN" smtClean="0"/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52CEE5B-852F-49B7-8BFA-89FE52729912}" type="slidenum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1844-62F8-4965-8DC9-12A3344D4E54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CEE5B-852F-49B7-8BFA-89FE5272991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DE811844-62F8-4965-8DC9-12A3344D4E54}" type="datetimeFigureOut">
              <a:rPr lang="en-IN" smtClean="0"/>
            </a:fld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52CEE5B-852F-49B7-8BFA-89FE52729912}" type="slidenum">
              <a:rPr lang="en-IN" smtClean="0"/>
            </a:fld>
            <a:endParaRPr lang="en-IN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DE811844-62F8-4965-8DC9-12A3344D4E54}" type="datetimeFigureOut">
              <a:rPr lang="en-IN" smtClean="0"/>
            </a:fld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52CEE5B-852F-49B7-8BFA-89FE52729912}" type="slidenum">
              <a:rPr lang="en-IN" smtClean="0"/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1844-62F8-4965-8DC9-12A3344D4E5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CEE5B-852F-49B7-8BFA-89FE5272991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1844-62F8-4965-8DC9-12A3344D4E5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CEE5B-852F-49B7-8BFA-89FE5272991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DE811844-62F8-4965-8DC9-12A3344D4E54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752CEE5B-852F-49B7-8BFA-89FE52729912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 panose="05000000000000000000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 panose="05000000000000000000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 panose="05000000000000000000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 panose="05020102010507070707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 panose="05000000000000000000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7744" y="5445224"/>
            <a:ext cx="6172200" cy="873950"/>
          </a:xfrm>
        </p:spPr>
        <p:txBody>
          <a:bodyPr>
            <a:normAutofit/>
          </a:bodyPr>
          <a:lstStyle/>
          <a:p>
            <a:r>
              <a:rPr lang="en-US" sz="2400" spc="-69" dirty="0">
                <a:solidFill>
                  <a:srgbClr val="04A4A4"/>
                </a:solidFill>
                <a:latin typeface="Bell MT" panose="02020503060305020303" pitchFamily="18" charset="0"/>
                <a:ea typeface="League Spartan"/>
                <a:cs typeface="League Spartan"/>
                <a:sym typeface="League Spartan"/>
              </a:rPr>
              <a:t>Analysis </a:t>
            </a:r>
            <a:r>
              <a:rPr lang="en-US" sz="2400" spc="-69" dirty="0" smtClean="0">
                <a:solidFill>
                  <a:srgbClr val="04A4A4"/>
                </a:solidFill>
                <a:latin typeface="Bell MT" panose="02020503060305020303" pitchFamily="18" charset="0"/>
                <a:ea typeface="League Spartan"/>
                <a:cs typeface="League Spartan"/>
                <a:sym typeface="League Spartan"/>
              </a:rPr>
              <a:t>by : Niharika Verma</a:t>
            </a:r>
            <a:br>
              <a:rPr lang="en-US" sz="2400" spc="-69" dirty="0" smtClean="0">
                <a:solidFill>
                  <a:srgbClr val="04A4A4"/>
                </a:solidFill>
                <a:latin typeface="Bell MT" panose="02020503060305020303" pitchFamily="18" charset="0"/>
                <a:ea typeface="League Spartan"/>
                <a:cs typeface="League Spartan"/>
                <a:sym typeface="League Spartan"/>
              </a:rPr>
            </a:br>
            <a:r>
              <a:rPr lang="en-US" sz="2400" spc="-69" dirty="0" smtClean="0">
                <a:solidFill>
                  <a:srgbClr val="04A4A4"/>
                </a:solidFill>
                <a:latin typeface="Bell MT" panose="02020503060305020303" pitchFamily="18" charset="0"/>
                <a:ea typeface="League Spartan"/>
                <a:cs typeface="League Spartan"/>
                <a:sym typeface="League Spartan"/>
              </a:rPr>
              <a:t>Date : 13th Sep 2025</a:t>
            </a:r>
            <a:endParaRPr lang="en-IN" sz="2400" dirty="0">
              <a:solidFill>
                <a:srgbClr val="04A4A4"/>
              </a:solidFill>
              <a:latin typeface="Bell MT" panose="02020503060305020303" pitchFamily="18" charset="0"/>
            </a:endParaRPr>
          </a:p>
        </p:txBody>
      </p:sp>
      <p:sp>
        <p:nvSpPr>
          <p:cNvPr id="4" name="Title 3"/>
          <p:cNvSpPr/>
          <p:nvPr>
            <p:ph type="ctrTitle"/>
          </p:nvPr>
        </p:nvSpPr>
        <p:spPr>
          <a:xfrm>
            <a:off x="2555875" y="1844675"/>
            <a:ext cx="6172200" cy="991870"/>
          </a:xfrm>
        </p:spPr>
        <p:txBody>
          <a:bodyPr>
            <a:normAutofit fontScale="90000"/>
          </a:bodyPr>
          <a:p>
            <a:r>
              <a:rPr lang="en-I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College Management System Analytics</a:t>
            </a:r>
            <a:endParaRPr lang="en-US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003935" y="1831975"/>
            <a:ext cx="6920865" cy="4446905"/>
          </a:xfrm>
        </p:spPr>
        <p:style>
          <a:lnRef idx="0">
            <a:scrgbClr r="0" g="0" b="0"/>
          </a:lnRef>
          <a:fillRef idx="1002">
            <a:schemeClr val="lt1"/>
          </a:fillRef>
          <a:effectRef idx="0">
            <a:scrgbClr r="0" g="0" b="0"/>
          </a:effectRef>
          <a:fontRef idx="major"/>
        </p:style>
        <p:txBody>
          <a:bodyPr>
            <a:normAutofit/>
          </a:bodyPr>
          <a:lstStyle/>
          <a:p>
            <a:pPr marL="342900" lvl="1" indent="-342900" algn="l">
              <a:spcBef>
                <a:spcPts val="600"/>
              </a:spcBef>
              <a:buSzPct val="70000"/>
            </a:pPr>
            <a:endParaRPr lang="en-US" altLang="en-US" sz="20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1" indent="-342900" algn="l">
              <a:spcBef>
                <a:spcPts val="600"/>
              </a:spcBef>
              <a:buSzPct val="70000"/>
            </a:pPr>
            <a:r>
              <a:rPr lang="en-US" altLang="en-US" sz="2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College Management System Analytics Project aims to enhance the operational efficiency of a college by analyzing key datasets related to students, faculty, courses, and enrollments. </a:t>
            </a:r>
            <a:endParaRPr lang="en-US" altLang="en-US" sz="20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1" indent="0" algn="ctr">
              <a:spcBef>
                <a:spcPts val="600"/>
              </a:spcBef>
              <a:buSzPct val="70000"/>
              <a:buFont typeface="Wingdings" panose="05000000000000000000"/>
              <a:buNone/>
            </a:pPr>
            <a:endParaRPr lang="en-US" altLang="en-US" sz="20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1" indent="-342900" algn="l">
              <a:spcBef>
                <a:spcPts val="600"/>
              </a:spcBef>
              <a:buSzPct val="70000"/>
            </a:pPr>
            <a:r>
              <a:rPr lang="en-US" altLang="en-US" sz="2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Currently, the institution’s data management is fragmented across spreadsheets and manual records, making it difficult to monitor performance, track progress, and make data-driven decisions.</a:t>
            </a:r>
            <a:endParaRPr lang="en-US" altLang="en-US" sz="20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IN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en-IN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796925"/>
            <a:ext cx="7467600" cy="621030"/>
          </a:xfr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IN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Tables</a:t>
            </a:r>
            <a:endParaRPr lang="en-IN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style>
          <a:lnRef idx="0">
            <a:scrgbClr r="0" g="0" b="0"/>
          </a:lnRef>
          <a:fillRef idx="1002">
            <a:schemeClr val="lt1"/>
          </a:fillRef>
          <a:effectRef idx="0">
            <a:scrgbClr r="0" g="0" b="0"/>
          </a:effectRef>
          <a:fontRef idx="major"/>
        </p:style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ym typeface="+mn-ea"/>
              </a:rPr>
              <a:t>The college management   needs four key datasets  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ym typeface="+mn-ea"/>
              </a:rPr>
              <a:t>Courses Table</a:t>
            </a:r>
            <a:r>
              <a:rPr lang="en-US" dirty="0">
                <a:sym typeface="+mn-ea"/>
              </a:rPr>
              <a:t> – provides details of courses available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ym typeface="+mn-ea"/>
              </a:rPr>
              <a:t>Student Table</a:t>
            </a:r>
            <a:r>
              <a:rPr lang="en-US" dirty="0">
                <a:sym typeface="+mn-ea"/>
              </a:rPr>
              <a:t> – Students who are enrolled In college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ym typeface="+mn-ea"/>
              </a:rPr>
              <a:t>Faculty Table</a:t>
            </a:r>
            <a:r>
              <a:rPr lang="en-US" dirty="0">
                <a:sym typeface="+mn-ea"/>
              </a:rPr>
              <a:t> – The Faculty present in the college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ym typeface="+mn-ea"/>
              </a:rPr>
              <a:t>Enrollments Table</a:t>
            </a:r>
            <a:r>
              <a:rPr lang="en-US" dirty="0">
                <a:sym typeface="+mn-ea"/>
              </a:rPr>
              <a:t> – Enrollment details</a:t>
            </a:r>
            <a:endParaRPr lang="en-IN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215" y="589915"/>
            <a:ext cx="8208645" cy="462280"/>
          </a:xfr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sz="2500" dirty="0">
                <a:sym typeface="+mn-ea"/>
              </a:rPr>
              <a:t>SQL QUERY ANALYSIS</a:t>
            </a:r>
            <a:endParaRPr lang="en-IN" sz="25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tellar" panose="020A0402060406010301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1268760"/>
            <a:ext cx="8280920" cy="547260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sz="1600" dirty="0" smtClean="0"/>
            </a:br>
            <a:r>
              <a:rPr lang="en-US" altLang="en-IN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1 . 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Get the average grade for each student (considering A=4, B=3, C=2, D=1, F=0).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/>
          </a:p>
        </p:txBody>
      </p:sp>
      <p:pic>
        <p:nvPicPr>
          <p:cNvPr id="7" name="Picture 6" descr="Screenshot (17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555" y="2604770"/>
            <a:ext cx="7275195" cy="378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80018" y="260380"/>
            <a:ext cx="8280920" cy="547260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en-US" sz="1600" dirty="0"/>
          </a:p>
          <a:p>
            <a:pPr marL="0" indent="0" algn="ctr">
              <a:buNone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2.  Find the average salary of instructors in each    department.</a:t>
            </a:r>
            <a:br>
              <a:rPr lang="en-US" sz="1600" dirty="0"/>
            </a:br>
            <a:br>
              <a:rPr lang="en-US" sz="1600" dirty="0" smtClean="0"/>
            </a:br>
            <a:br>
              <a:rPr lang="en-US" sz="1600" dirty="0" smtClean="0"/>
            </a:br>
            <a:endParaRPr lang="en-US" sz="1600" dirty="0"/>
          </a:p>
        </p:txBody>
      </p:sp>
      <p:pic>
        <p:nvPicPr>
          <p:cNvPr id="5" name="Picture 4" descr="Screenshot (177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205" y="1588770"/>
            <a:ext cx="6177280" cy="45929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9710" y="71120"/>
            <a:ext cx="8384540" cy="6670040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3 . List all courses that are taught by more than one instructor </a:t>
            </a:r>
            <a:br>
              <a:rPr lang="en-US" sz="1600" dirty="0"/>
            </a:br>
            <a:br>
              <a:rPr lang="en-US" sz="1600" dirty="0" smtClean="0"/>
            </a:br>
            <a:br>
              <a:rPr lang="en-US" sz="1600" dirty="0" smtClean="0"/>
            </a:br>
            <a:endParaRPr lang="en-US" sz="1600" dirty="0"/>
          </a:p>
        </p:txBody>
      </p:sp>
      <p:pic>
        <p:nvPicPr>
          <p:cNvPr id="7" name="Picture 6" descr="Screenshot (178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705" y="1772920"/>
            <a:ext cx="7547610" cy="42437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215" y="71120"/>
            <a:ext cx="8281035" cy="6670040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4.  List all instructors who are teaching a course with fewer than 3 students enrolled.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Screenshot (179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6520" y="2042795"/>
            <a:ext cx="6265545" cy="4356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215" y="104140"/>
            <a:ext cx="8281035" cy="6637020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dirty="0" smtClean="0"/>
          </a:p>
          <a:p>
            <a:pPr marL="0" indent="0" algn="ctr">
              <a:buNone/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5. Find the total number of credits each student has earned, grouped by their major.</a:t>
            </a:r>
            <a:b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Screenshot (18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680" y="1798955"/>
            <a:ext cx="7214235" cy="4584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215" y="176530"/>
            <a:ext cx="8281035" cy="6564630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dirty="0" smtClean="0"/>
          </a:p>
          <a:p>
            <a:pPr marL="0" indent="0" algn="ctr">
              <a:buNone/>
            </a:pPr>
            <a:endParaRPr lang="en-U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6.  List the top 3 students with the highest number of credits earned.</a:t>
            </a:r>
            <a:br>
              <a:rPr lang="en-US" sz="1600" dirty="0" smtClean="0"/>
            </a:br>
            <a:br>
              <a:rPr lang="en-US" sz="1600" dirty="0" smtClean="0"/>
            </a:br>
            <a:endParaRPr lang="en-US" sz="1600" dirty="0"/>
          </a:p>
        </p:txBody>
      </p:sp>
      <p:pic>
        <p:nvPicPr>
          <p:cNvPr id="5" name="Picture 4" descr="Screenshot (18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1917065"/>
            <a:ext cx="7300595" cy="4104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" y="188595"/>
            <a:ext cx="8208645" cy="567055"/>
          </a:xfr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114300" indent="0" algn="ctr"/>
            <a:r>
              <a:rPr lang="en-IN" sz="2800" b="1" u="sng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Power BI visualization :</a:t>
            </a:r>
            <a:endParaRPr lang="en-IN" sz="2800" b="1" u="sng" dirty="0" smtClean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215" y="902970"/>
            <a:ext cx="8281035" cy="5838190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sz="1600" dirty="0" smtClean="0"/>
            </a:br>
            <a:br>
              <a:rPr lang="en-US" sz="1600" dirty="0" smtClean="0"/>
            </a:br>
            <a:endParaRPr lang="en-US" sz="1600" dirty="0"/>
          </a:p>
        </p:txBody>
      </p:sp>
      <p:pic>
        <p:nvPicPr>
          <p:cNvPr id="4" name="Picture 3" descr="Screenshot (18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60" y="1124585"/>
            <a:ext cx="5080635" cy="2856865"/>
          </a:xfrm>
          <a:prstGeom prst="rect">
            <a:avLst/>
          </a:prstGeom>
        </p:spPr>
      </p:pic>
      <p:pic>
        <p:nvPicPr>
          <p:cNvPr id="5" name="Picture 4" descr="Screenshot (186)"/>
          <p:cNvPicPr>
            <a:picLocks noChangeAspect="1"/>
          </p:cNvPicPr>
          <p:nvPr/>
        </p:nvPicPr>
        <p:blipFill>
          <a:blip r:embed="rId2"/>
          <a:srcRect t="5608" r="13375"/>
          <a:stretch>
            <a:fillRect/>
          </a:stretch>
        </p:blipFill>
        <p:spPr>
          <a:xfrm>
            <a:off x="3563620" y="3933190"/>
            <a:ext cx="4626610" cy="2746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404664"/>
            <a:ext cx="8208912" cy="648072"/>
          </a:xfr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114300" indent="0" algn="ctr"/>
            <a:r>
              <a:rPr lang="en-IN" sz="2400" b="1" u="sng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Conclusion:</a:t>
            </a:r>
            <a:endParaRPr lang="en-IN" sz="2400" u="sng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1268760"/>
            <a:ext cx="8280920" cy="547260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 lnSpcReduction="20000"/>
          </a:bodyPr>
          <a:lstStyle/>
          <a:p>
            <a:pPr marL="0" indent="0">
              <a:buNone/>
            </a:pPr>
            <a:r>
              <a:rPr lang="en-US" sz="1600" b="1" u="sng" dirty="0" smtClean="0"/>
              <a:t>SQL </a:t>
            </a:r>
            <a:r>
              <a:rPr lang="en-US" sz="1600" b="1" u="sng" dirty="0"/>
              <a:t>QUERIES</a:t>
            </a:r>
            <a:r>
              <a:rPr lang="en-US" sz="1600" b="1" u="sng" dirty="0" smtClean="0"/>
              <a:t>:</a:t>
            </a:r>
            <a:endParaRPr lang="en-US" sz="1600" b="1" u="sng" dirty="0" smtClean="0"/>
          </a:p>
          <a:p>
            <a:pPr marL="0" indent="0">
              <a:buNone/>
            </a:pPr>
            <a:endParaRPr lang="en-US" sz="1600" b="1" u="sng" dirty="0" smtClean="0"/>
          </a:p>
          <a:p>
            <a:r>
              <a:rPr lang="en-US" altLang="en-US" sz="1600" b="1" dirty="0" smtClean="0"/>
              <a:t>Average grades per student to assess academic performance.</a:t>
            </a:r>
            <a:endParaRPr lang="en-US" altLang="en-US" sz="1600" b="1" dirty="0" smtClean="0"/>
          </a:p>
          <a:p>
            <a:endParaRPr lang="en-US" altLang="en-US" sz="1600" b="1" dirty="0" smtClean="0"/>
          </a:p>
          <a:p>
            <a:r>
              <a:rPr lang="en-US" altLang="en-US" sz="1600" b="1" dirty="0" smtClean="0"/>
              <a:t>Instructor workload and course distribution to optimize teaching resources.</a:t>
            </a:r>
            <a:endParaRPr lang="en-US" altLang="en-US" sz="1600" b="1" dirty="0" smtClean="0"/>
          </a:p>
          <a:p>
            <a:endParaRPr lang="en-US" altLang="en-US" sz="1600" b="1" dirty="0" smtClean="0"/>
          </a:p>
          <a:p>
            <a:r>
              <a:rPr lang="en-US" altLang="en-US" sz="1600" b="1" dirty="0" smtClean="0"/>
              <a:t>Total credits earned per student and department-level summaries to evaluate progress.</a:t>
            </a:r>
            <a:endParaRPr lang="en-US" altLang="en-US" sz="1600" b="1" dirty="0" smtClean="0"/>
          </a:p>
          <a:p>
            <a:endParaRPr lang="en-US" altLang="en-US" sz="1600" b="1" dirty="0" smtClean="0"/>
          </a:p>
          <a:p>
            <a:r>
              <a:rPr lang="en-US" altLang="en-US" sz="1600" b="1" dirty="0" smtClean="0"/>
              <a:t>Top-performing students and instructor salary averages to identify performance patterns.</a:t>
            </a:r>
            <a:br>
              <a:rPr lang="en-US" sz="1600" b="1" dirty="0" smtClean="0"/>
            </a:br>
            <a:endParaRPr lang="en-US" sz="1600" b="1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u="sng" dirty="0" smtClean="0"/>
              <a:t>POWER </a:t>
            </a:r>
            <a:r>
              <a:rPr lang="en-US" sz="1600" b="1" u="sng" dirty="0"/>
              <a:t>BI REPORT</a:t>
            </a:r>
            <a:r>
              <a:rPr lang="en-US" sz="1600" b="1" u="sng" dirty="0" smtClean="0"/>
              <a:t>:</a:t>
            </a:r>
            <a:br>
              <a:rPr lang="en-US" sz="1600" b="1" dirty="0" smtClean="0"/>
            </a:br>
            <a:endParaRPr lang="en-US" sz="1600" b="1" dirty="0"/>
          </a:p>
          <a:p>
            <a:pPr>
              <a:buClr>
                <a:schemeClr val="tx1"/>
              </a:buClr>
            </a:pPr>
            <a:r>
              <a:rPr lang="en-US" altLang="en-US" sz="1600" b="1" dirty="0"/>
              <a:t>Course-wise student enrollment trends.</a:t>
            </a:r>
            <a:endParaRPr lang="en-US" altLang="en-US" sz="1600" b="1" dirty="0"/>
          </a:p>
          <a:p>
            <a:pPr>
              <a:buClr>
                <a:schemeClr val="tx1"/>
              </a:buClr>
            </a:pPr>
            <a:endParaRPr lang="en-US" altLang="en-US" sz="1600" b="1" dirty="0"/>
          </a:p>
          <a:p>
            <a:pPr>
              <a:buClr>
                <a:schemeClr val="tx1"/>
              </a:buClr>
            </a:pPr>
            <a:r>
              <a:rPr lang="en-US" altLang="en-US" sz="1600" b="1" dirty="0"/>
              <a:t>Department-wise faculty distribution and salary comparisons.</a:t>
            </a:r>
            <a:endParaRPr lang="en-US" altLang="en-US" sz="1600" b="1" dirty="0"/>
          </a:p>
          <a:p>
            <a:pPr>
              <a:buClr>
                <a:schemeClr val="tx1"/>
              </a:buClr>
            </a:pPr>
            <a:endParaRPr lang="en-US" altLang="en-US" sz="1600" b="1" dirty="0"/>
          </a:p>
          <a:p>
            <a:pPr>
              <a:buClr>
                <a:schemeClr val="tx1"/>
              </a:buClr>
            </a:pPr>
            <a:r>
              <a:rPr lang="en-US" altLang="en-US" sz="1600" b="1" dirty="0"/>
              <a:t>Student progression through credit accumulation over time.</a:t>
            </a:r>
            <a:endParaRPr lang="en-US" altLang="en-US" sz="1600" b="1" dirty="0"/>
          </a:p>
          <a:p>
            <a:pPr>
              <a:buClr>
                <a:schemeClr val="tx1"/>
              </a:buClr>
            </a:pPr>
            <a:endParaRPr lang="en-US" altLang="en-US" sz="1600" b="1" dirty="0"/>
          </a:p>
          <a:p>
            <a:pPr>
              <a:buClr>
                <a:schemeClr val="tx1"/>
              </a:buClr>
            </a:pPr>
            <a:r>
              <a:rPr lang="en-US" altLang="en-US" sz="1600" b="1" dirty="0"/>
              <a:t>Active vs. graduated student proportions.</a:t>
            </a:r>
            <a:endParaRPr lang="en-US" alt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75030" y="2550795"/>
            <a:ext cx="7049770" cy="1425575"/>
          </a:xfrm>
        </p:spPr>
        <p:txBody>
          <a:bodyPr>
            <a:normAutofit/>
          </a:bodyPr>
          <a:p>
            <a:pPr marL="0" indent="0" algn="ctr">
              <a:buNone/>
            </a:pPr>
            <a:r>
              <a:rPr lang="en-US" sz="5400" b="1" u="sng" spc="50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Schoolbook" panose="02040604050505020304" charset="0"/>
                <a:ea typeface="Dynapuff Condensed"/>
                <a:cs typeface="Century Schoolbook" panose="02040604050505020304" charset="0"/>
                <a:sym typeface="Dynapuff Condensed"/>
              </a:rPr>
              <a:t>THANK YOU</a:t>
            </a:r>
            <a:endParaRPr lang="en-US" sz="5400" b="1" u="sng" spc="501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Schoolbook" panose="02040604050505020304" charset="0"/>
              <a:ea typeface="Dynapuff Condensed"/>
              <a:cs typeface="Century Schoolbook" panose="02040604050505020304" charset="0"/>
              <a:sym typeface="Dynapuff Condensed"/>
            </a:endParaRPr>
          </a:p>
          <a:p>
            <a:pPr algn="ctr"/>
            <a:endParaRPr lang="en-US" sz="54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Schoolbook" panose="02040604050505020304" charset="0"/>
              <a:cs typeface="Century Schoolbook" panose="02040604050505020304" charset="0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5939790" y="-27305"/>
            <a:ext cx="2922270" cy="3619500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5"/>
          <p:cNvSpPr/>
          <p:nvPr/>
        </p:nvSpPr>
        <p:spPr>
          <a:xfrm flipV="1">
            <a:off x="0" y="0"/>
            <a:ext cx="3489243" cy="3489243"/>
          </a:xfrm>
          <a:custGeom>
            <a:avLst/>
            <a:gdLst/>
            <a:ahLst/>
            <a:cxnLst/>
            <a:rect l="l" t="t" r="r" b="b"/>
            <a:pathLst>
              <a:path w="3489243" h="3489243">
                <a:moveTo>
                  <a:pt x="0" y="3489243"/>
                </a:moveTo>
                <a:lnTo>
                  <a:pt x="3489243" y="3489243"/>
                </a:lnTo>
                <a:lnTo>
                  <a:pt x="3489243" y="0"/>
                </a:lnTo>
                <a:lnTo>
                  <a:pt x="0" y="0"/>
                </a:lnTo>
                <a:lnTo>
                  <a:pt x="0" y="348924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070" y="4581525"/>
            <a:ext cx="2067560" cy="2118360"/>
          </a:xfrm>
          <a:prstGeom prst="rect">
            <a:avLst/>
          </a:prstGeom>
        </p:spPr>
      </p:pic>
      <p:sp>
        <p:nvSpPr>
          <p:cNvPr id="9" name="Freeform 7"/>
          <p:cNvSpPr/>
          <p:nvPr/>
        </p:nvSpPr>
        <p:spPr>
          <a:xfrm flipH="1">
            <a:off x="6804025" y="4509135"/>
            <a:ext cx="1950720" cy="214884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0</TotalTime>
  <Words>1790</Words>
  <Application>WPS Presentation</Application>
  <PresentationFormat>On-screen Show (4:3)</PresentationFormat>
  <Paragraphs>62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4" baseType="lpstr">
      <vt:lpstr>Arial</vt:lpstr>
      <vt:lpstr>SimSun</vt:lpstr>
      <vt:lpstr>Wingdings</vt:lpstr>
      <vt:lpstr>Wingdings</vt:lpstr>
      <vt:lpstr>Wingdings 2</vt:lpstr>
      <vt:lpstr>Baskerville Old Face</vt:lpstr>
      <vt:lpstr>Bell MT</vt:lpstr>
      <vt:lpstr>League Spartan</vt:lpstr>
      <vt:lpstr>Segoe Print</vt:lpstr>
      <vt:lpstr>Calibri</vt:lpstr>
      <vt:lpstr>Alice</vt:lpstr>
      <vt:lpstr>Castellar</vt:lpstr>
      <vt:lpstr>Calisto MT</vt:lpstr>
      <vt:lpstr>Century Schoolbook</vt:lpstr>
      <vt:lpstr>Microsoft YaHei</vt:lpstr>
      <vt:lpstr>Arial Unicode MS</vt:lpstr>
      <vt:lpstr>Agency FB</vt:lpstr>
      <vt:lpstr>Dynapuff Condensed</vt:lpstr>
      <vt:lpstr>Bernard MT Condensed</vt:lpstr>
      <vt:lpstr>Blackadder ITC</vt:lpstr>
      <vt:lpstr>Franklin Gothic Medium Cond</vt:lpstr>
      <vt:lpstr>Oriel</vt:lpstr>
      <vt:lpstr>Patient Encounter Cost and Risk Analysis in Healthcare Systems</vt:lpstr>
      <vt:lpstr>Introduction</vt:lpstr>
      <vt:lpstr>Tables</vt:lpstr>
      <vt:lpstr>1.Evaluating Financial Risk by     Encounter Outcome :</vt:lpstr>
      <vt:lpstr>2.Identifying Patients with Frequent High-Cost Encounters :</vt:lpstr>
      <vt:lpstr>3.Identifying Risk Factors Based on Demographics and Encounter Reason :</vt:lpstr>
      <vt:lpstr>4.Assessing Payer Contributions for Different Procedure Types :</vt:lpstr>
      <vt:lpstr>5. Identifying Patients with Multiple Procedures Across Encounters:</vt:lpstr>
      <vt:lpstr>6.Analyzing Patient Encounter Duration for DifferenT  Classes :</vt:lpstr>
      <vt:lpstr>Power BI visualization :</vt:lpstr>
      <vt:lpstr>Conclusion: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Niharika Verma</cp:lastModifiedBy>
  <cp:revision>18</cp:revision>
  <dcterms:created xsi:type="dcterms:W3CDTF">2025-07-11T23:21:00Z</dcterms:created>
  <dcterms:modified xsi:type="dcterms:W3CDTF">2025-10-13T12:24:45Z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B19E99D7AA894BE9B0675F459EA1A30A_13</vt:lpwstr>
  </property>
  <property fmtid="{D5CDD505-2E9C-101B-9397-08002B2CF9AE}" pid="3" name="KSOProductBuildVer">
    <vt:lpwstr>1033-12.2.0.23131</vt:lpwstr>
  </property>
</Properties>
</file>